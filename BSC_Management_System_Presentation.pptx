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7620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554480" cy="5080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B134"/>
                </a:solidFill>
                <a:latin typeface="Calibri"/>
              </a:rPr>
              <a:t>BSC DEGREE PROJECT — 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2880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BSC Management System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BFD2E4"/>
                </a:solidFill>
                <a:latin typeface="Calibri"/>
              </a:rPr>
              <a:t>Enterprise Balanced Scorecard Platform for Insurance Companies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03320"/>
            <a:ext cx="2212848" cy="475488"/>
          </a:xfrm>
          <a:prstGeom prst="roundRect">
            <a:avLst/>
          </a:prstGeom>
          <a:solidFill>
            <a:srgbClr val="1B3255"/>
          </a:solidFill>
          <a:ln w="1270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76472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Financial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18688" y="3703320"/>
            <a:ext cx="2212848" cy="475488"/>
          </a:xfrm>
          <a:prstGeom prst="roundRect">
            <a:avLst/>
          </a:prstGeom>
          <a:solidFill>
            <a:srgbClr val="1B3255"/>
          </a:solidFill>
          <a:ln w="1270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8688" y="3776472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4416" y="3703320"/>
            <a:ext cx="2212848" cy="475488"/>
          </a:xfrm>
          <a:prstGeom prst="roundRect">
            <a:avLst/>
          </a:prstGeom>
          <a:solidFill>
            <a:srgbClr val="1B3255"/>
          </a:solidFill>
          <a:ln w="1270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14416" y="3776472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Internal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3703320"/>
            <a:ext cx="2212848" cy="475488"/>
          </a:xfrm>
          <a:prstGeom prst="roundRect">
            <a:avLst/>
          </a:prstGeom>
          <a:solidFill>
            <a:srgbClr val="1B3255"/>
          </a:solidFill>
          <a:ln w="1270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0144" y="3776472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Learning &amp;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Presented by:  [Student Name]   ·   ID: [ID No.]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Advisor:  [Advisor Name]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400" b="0">
                <a:solidFill>
                  <a:srgbClr val="9FB4CA"/>
                </a:solidFill>
                <a:latin typeface="Calibri"/>
              </a:rPr>
              <a:t>[University Name]  ·  [Department]  ·  [Month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F2B134"/>
                </a:solidFill>
                <a:latin typeface="Calibri"/>
              </a:rPr>
              <a:t>01   </a:t>
            </a:r>
            <a:r>
              <a:rPr sz="2100" b="1">
                <a:solidFill>
                  <a:srgbClr val="10223E"/>
                </a:solidFill>
                <a:latin typeface="Calibri"/>
              </a:rPr>
              <a:t>Background &amp; Motivation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2B134"/>
                </a:solidFill>
                <a:latin typeface="Calibri"/>
              </a:rPr>
              <a:t>02   </a:t>
            </a:r>
            <a:r>
              <a:rPr sz="2100" b="1">
                <a:solidFill>
                  <a:srgbClr val="10223E"/>
                </a:solidFill>
                <a:latin typeface="Calibri"/>
              </a:rPr>
              <a:t>Problem Statement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2B134"/>
                </a:solidFill>
                <a:latin typeface="Calibri"/>
              </a:rPr>
              <a:t>03   </a:t>
            </a:r>
            <a:r>
              <a:rPr sz="2100" b="1">
                <a:solidFill>
                  <a:srgbClr val="10223E"/>
                </a:solidFill>
                <a:latin typeface="Calibri"/>
              </a:rPr>
              <a:t>Objectives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2B134"/>
                </a:solidFill>
                <a:latin typeface="Calibri"/>
              </a:rPr>
              <a:t>04   </a:t>
            </a:r>
            <a:r>
              <a:rPr sz="2100" b="1">
                <a:solidFill>
                  <a:srgbClr val="10223E"/>
                </a:solidFill>
                <a:latin typeface="Calibri"/>
              </a:rPr>
              <a:t>The Balanced Scorecard Framework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2B134"/>
                </a:solidFill>
                <a:latin typeface="Calibri"/>
              </a:rPr>
              <a:t>05   </a:t>
            </a:r>
            <a:r>
              <a:rPr sz="2100" b="1">
                <a:solidFill>
                  <a:srgbClr val="10223E"/>
                </a:solidFill>
                <a:latin typeface="Calibri"/>
              </a:rP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F2B134"/>
                </a:solidFill>
                <a:latin typeface="Calibri"/>
              </a:rPr>
              <a:t>06   </a:t>
            </a:r>
            <a:r>
              <a:rPr sz="2100" b="1">
                <a:solidFill>
                  <a:srgbClr val="10223E"/>
                </a:solidFill>
                <a:latin typeface="Calibri"/>
              </a:rPr>
              <a:t>Key Features &amp; Workflows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2B134"/>
                </a:solidFill>
                <a:latin typeface="Calibri"/>
              </a:rPr>
              <a:t>07   </a:t>
            </a:r>
            <a:r>
              <a:rPr sz="2100" b="1">
                <a:solidFill>
                  <a:srgbClr val="10223E"/>
                </a:solidFill>
                <a:latin typeface="Calibri"/>
              </a:rPr>
              <a:t>Technology Stack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2B134"/>
                </a:solidFill>
                <a:latin typeface="Calibri"/>
              </a:rPr>
              <a:t>08   </a:t>
            </a:r>
            <a:r>
              <a:rPr sz="2100" b="1">
                <a:solidFill>
                  <a:srgbClr val="10223E"/>
                </a:solidFill>
                <a:latin typeface="Calibri"/>
              </a:rPr>
              <a:t>System Architecture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2B134"/>
                </a:solidFill>
                <a:latin typeface="Calibri"/>
              </a:rPr>
              <a:t>09   </a:t>
            </a:r>
            <a:r>
              <a:rPr sz="2100" b="1">
                <a:solidFill>
                  <a:srgbClr val="10223E"/>
                </a:solidFill>
                <a:latin typeface="Calibri"/>
              </a:rPr>
              <a:t>Database Design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2B134"/>
                </a:solidFill>
                <a:latin typeface="Calibri"/>
              </a:rPr>
              <a:t>10   </a:t>
            </a:r>
            <a:r>
              <a:rPr sz="2100" b="1">
                <a:solidFill>
                  <a:srgbClr val="10223E"/>
                </a:solidFill>
                <a:latin typeface="Calibri"/>
              </a:rPr>
              <a:t>Testing, Deployment, Conclusion &amp; 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Performance measurement is strategic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Insurance companies must translate strategy into measurable objectives across the whole organization.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The Balanced Scorecard (Kaplan &amp; Norton)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A globally adopted framework linking vision and strategy to Financial, Customer, Internal Process, and Learning &amp; Growth measures.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Manual / spreadsheet-based BSC management is fragile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Version conflicts, lost files, unclear approval status, no audit trail, and error-prone score aggregation.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Opportunity for digitization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Ethiopian insurers increasingly adopt enterprise systems — a dedicated BSC platform enforces accountability at every 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WHY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71907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4708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Fragmented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23160"/>
            <a:ext cx="480974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5A6B80"/>
                </a:solidFill>
                <a:latin typeface="Calibri"/>
              </a:rPr>
              <a:t>Plans live in scattered Excel files and emails; there is no single source of truth for performance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9672" y="171907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84708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Slow, opaque approvals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423160"/>
            <a:ext cx="480974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5A6B80"/>
                </a:solidFill>
                <a:latin typeface="Calibri"/>
              </a:rPr>
              <a:t>Paper/email sign-offs cause delays, lost documents, and no visibility of who approved what and when.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405079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17880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No role-aware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754880"/>
            <a:ext cx="480974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5A6B80"/>
                </a:solidFill>
                <a:latin typeface="Calibri"/>
              </a:rPr>
              <a:t>Employees, managers, executives and the CEO need different views — spreadsheets expose everything to everyone.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88620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19672" y="405079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417880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Error-prone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4754880"/>
            <a:ext cx="480974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5A6B80"/>
                </a:solidFill>
                <a:latin typeface="Calibri"/>
              </a:rPr>
              <a:t>Weighted scores, achievement %, and department roll-ups are computed manually, causing inconsistencies.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WHAT THE SYSTEM ACHIEVES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10835640" cy="960120"/>
          </a:xfrm>
          <a:prstGeom prst="round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B134"/>
                </a:solidFill>
                <a:latin typeface="Calibri"/>
              </a:rPr>
              <a:t>General Objective:</a:t>
            </a:r>
          </a:p>
          <a:p>
            <a:pPr algn="l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Develop a secure, role-based web system that manages the full life-cycle of Balanced Scorecard plans — from creation to multi-level approval and performance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0E8A8A"/>
                </a:solidFill>
                <a:latin typeface="Calibri"/>
              </a:rPr>
              <a:t>▪  </a:t>
            </a:r>
            <a:r>
              <a:rPr sz="1800" b="1">
                <a:solidFill>
                  <a:srgbClr val="222B38"/>
                </a:solidFill>
                <a:latin typeface="Calibri"/>
              </a:rPr>
              <a:t>Digitize plan management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5A6B80"/>
                </a:solidFill>
                <a:latin typeface="Calibri"/>
              </a:rPr>
              <a:t>     Create, version, and track KPI plans with baselines, targets, weights, budgets and attachments.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E8A8A"/>
                </a:solidFill>
                <a:latin typeface="Calibri"/>
              </a:rPr>
              <a:t>▪  </a:t>
            </a:r>
            <a:r>
              <a:rPr sz="1800" b="1">
                <a:solidFill>
                  <a:srgbClr val="222B38"/>
                </a:solidFill>
                <a:latin typeface="Calibri"/>
              </a:rPr>
              <a:t>Enforce the organizational hierarchy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5A6B80"/>
                </a:solidFill>
                <a:latin typeface="Calibri"/>
              </a:rPr>
              <a:t>     Role-based access control for Employee → Department Manager → Executive Manager → CEO → Board.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E8A8A"/>
                </a:solidFill>
                <a:latin typeface="Calibri"/>
              </a:rPr>
              <a:t>▪  </a:t>
            </a:r>
            <a:r>
              <a:rPr sz="1800" b="1">
                <a:solidFill>
                  <a:srgbClr val="222B38"/>
                </a:solidFill>
                <a:latin typeface="Calibri"/>
              </a:rPr>
              <a:t>Automate the approval workflow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5A6B80"/>
                </a:solidFill>
                <a:latin typeface="Calibri"/>
              </a:rPr>
              <a:t>     Route plans through submit → review → approve/reject/return stages with full history.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E8A8A"/>
                </a:solidFill>
                <a:latin typeface="Calibri"/>
              </a:rPr>
              <a:t>▪  </a:t>
            </a:r>
            <a:r>
              <a:rPr sz="1800" b="1">
                <a:solidFill>
                  <a:srgbClr val="222B38"/>
                </a:solidFill>
                <a:latin typeface="Calibri"/>
              </a:rPr>
              <a:t>Generate actionable reports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5A6B80"/>
                </a:solidFill>
                <a:latin typeface="Calibri"/>
              </a:rPr>
              <a:t>     Individual, departmental and corporate scorecards exportable to Excel and PDF.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E8A8A"/>
                </a:solidFill>
                <a:latin typeface="Calibri"/>
              </a:rPr>
              <a:t>▪  </a:t>
            </a:r>
            <a:r>
              <a:rPr sz="1800" b="1">
                <a:solidFill>
                  <a:srgbClr val="222B38"/>
                </a:solidFill>
                <a:latin typeface="Calibri"/>
              </a:rPr>
              <a:t>Guarantee traceability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5A6B80"/>
                </a:solidFill>
                <a:latin typeface="Calibri"/>
              </a:rPr>
              <a:t>     Audit log of every significant action plus in-app, email, and SMS notifications.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The Balanced Scorecard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46304" cy="21488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46504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Financial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6712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E8A8A"/>
                </a:solidFill>
                <a:latin typeface="Calibri"/>
              </a:rPr>
              <a:t>"How do we look to shareholders?"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A6B80"/>
                </a:solidFill>
                <a:latin typeface="Calibri"/>
              </a:rPr>
              <a:t>Example KPIs:  Premium growth, profitability, cost ratio, budget utilization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600200"/>
            <a:ext cx="146304" cy="214884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746504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6712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2B134"/>
                </a:solidFill>
                <a:latin typeface="Calibri"/>
              </a:rPr>
              <a:t>"How do customers see us?"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56032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A6B80"/>
                </a:solidFill>
                <a:latin typeface="Calibri"/>
              </a:rPr>
              <a:t>Example KPIs:  Retention, satisfaction, claims experience, market share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146304" cy="214884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78224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Internal Business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9884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3255"/>
                </a:solidFill>
                <a:latin typeface="Calibri"/>
              </a:rPr>
              <a:t>"What must we excel at?"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A6B80"/>
                </a:solidFill>
                <a:latin typeface="Calibri"/>
              </a:rPr>
              <a:t>Example KPIs:  Underwriting cycle time, claims processing,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931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931920"/>
            <a:ext cx="146304" cy="214884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078224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Learning &amp;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49884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8E44AD"/>
                </a:solidFill>
                <a:latin typeface="Calibri"/>
              </a:rPr>
              <a:t>"Can we keep improving?"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89204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A6B80"/>
                </a:solidFill>
                <a:latin typeface="Calibri"/>
              </a:rPr>
              <a:t>Example KPIs:  Staff training, system capability, employee motivation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OUR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Proposed Solution —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Centralized web platform</a:t>
            </a:r>
          </a:p>
          <a:p>
            <a:pPr>
              <a:spcAft>
                <a:spcPts val="15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React SPA front end talking to an Express REST API over HTTPS with JWT authentication.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Strategy-to-execution pipeline</a:t>
            </a:r>
          </a:p>
          <a:p>
            <a:pPr>
              <a:spcAft>
                <a:spcPts val="15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Objectives become measurable KPI plans owned by accountable employees.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Hierarchical governance built-in</a:t>
            </a:r>
          </a:p>
          <a:p>
            <a:pPr>
              <a:spcAft>
                <a:spcPts val="15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Every action respects the org chart: employees see their work, executives see the corporation.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Live performance intelligence</a:t>
            </a:r>
          </a:p>
          <a:p>
            <a:pPr>
              <a:spcAft>
                <a:spcPts val="15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Dashboards with achievement %, status breakdowns, budget views and department comparisons (Recharts).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Enterprise-grade operations</a:t>
            </a:r>
          </a:p>
          <a:p>
            <a:pPr>
              <a:spcAft>
                <a:spcPts val="15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Audit trail, notifications (in-app / email / SMS), file attachments, versioning, Excel/PDF exports.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67335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0136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223E"/>
                </a:solidFill>
                <a:latin typeface="Calibri"/>
              </a:rPr>
              <a:t>Plan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77440"/>
            <a:ext cx="48097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KPI definition, weights, budgets, monthly targets, parent-child strategy maps, contributors, attachments, comments.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9672" y="167335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80136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223E"/>
                </a:solidFill>
                <a:latin typeface="Calibri"/>
              </a:rPr>
              <a:t>Approval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377440"/>
            <a:ext cx="48097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DRAFT → SUBMITTED → UNDER_REVIEW → APPROVED / REJECTED / RETURNED with reviewer history on each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322783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35584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223E"/>
                </a:solidFill>
                <a:latin typeface="Calibri"/>
              </a:rPr>
              <a:t>Dashboards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931920"/>
            <a:ext cx="48097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Role-adaptive dashboards: personal, departmental, and executive views with charts and top performers.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6324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19672" y="322783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35584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223E"/>
                </a:solidFill>
                <a:latin typeface="Calibri"/>
              </a:rPr>
              <a:t>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931920"/>
            <a:ext cx="48097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Individual / department / corporate reports exported as styled Excel (.xlsx) and branded PDF.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" y="478231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91032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223E"/>
                </a:solidFill>
                <a:latin typeface="Calibri"/>
              </a:rPr>
              <a:t>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486400"/>
            <a:ext cx="48097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In-app alerts with unread counts plus email (SMTP) and SMS (AfroMessage) delivery.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617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19672" y="478231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491032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223E"/>
                </a:solidFill>
                <a:latin typeface="Calibri"/>
              </a:rPr>
              <a:t>Security &amp;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5486400"/>
            <a:ext cx="48097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JWT auth, bcrypt hashing, RBAC middleware, Helmet headers, validation, and full audit logging.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BSC Plan Approval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965960" cy="868680"/>
          </a:xfrm>
          <a:prstGeom prst="roundRect">
            <a:avLst/>
          </a:prstGeom>
          <a:solidFill>
            <a:srgbClr val="5A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9424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24328" y="2295144"/>
            <a:ext cx="566928" cy="301752"/>
          </a:xfrm>
          <a:prstGeom prst="rightArrow">
            <a:avLst/>
          </a:prstGeom>
          <a:solidFill>
            <a:srgbClr val="9FB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54680" y="2011680"/>
            <a:ext cx="1965960" cy="868680"/>
          </a:xfrm>
          <a:prstGeom prst="round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249424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SUBMITTED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38928" y="2295144"/>
            <a:ext cx="566928" cy="301752"/>
          </a:xfrm>
          <a:prstGeom prst="rightArrow">
            <a:avLst/>
          </a:prstGeom>
          <a:solidFill>
            <a:srgbClr val="9FB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0" y="2011680"/>
            <a:ext cx="1965960" cy="868680"/>
          </a:xfrm>
          <a:prstGeom prst="round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249424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UNDER REVIEW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53528" y="2295144"/>
            <a:ext cx="566928" cy="301752"/>
          </a:xfrm>
          <a:prstGeom prst="rightArrow">
            <a:avLst/>
          </a:prstGeom>
          <a:solidFill>
            <a:srgbClr val="9FB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2011680"/>
            <a:ext cx="1965960" cy="868680"/>
          </a:xfrm>
          <a:prstGeom prst="round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249424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168128" y="2295144"/>
            <a:ext cx="566928" cy="301752"/>
          </a:xfrm>
          <a:prstGeom prst="rightArrow">
            <a:avLst/>
          </a:prstGeom>
          <a:solidFill>
            <a:srgbClr val="9FB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98480" y="2011680"/>
            <a:ext cx="1965960" cy="868680"/>
          </a:xfrm>
          <a:prstGeom prst="roundRect">
            <a:avLst/>
          </a:prstGeom>
          <a:solidFill>
            <a:srgbClr val="27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2249424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FINAL APPROVED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520440"/>
            <a:ext cx="31089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70332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Calibri"/>
              </a:rPr>
              <a:t>REJECTED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703320" y="3721608"/>
            <a:ext cx="457200" cy="329184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06240" y="4572000"/>
            <a:ext cx="31089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75488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D38A1F"/>
                </a:solidFill>
                <a:latin typeface="Calibri"/>
              </a:rPr>
              <a:t>RETURNED FOR REVISION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3703320" y="4773168"/>
            <a:ext cx="457200" cy="329184"/>
          </a:xfrm>
          <a:prstGeom prst="downArrow">
            <a:avLst/>
          </a:prstGeom>
          <a:solidFill>
            <a:srgbClr val="D3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3657600"/>
            <a:ext cx="4023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223E"/>
                </a:solidFill>
                <a:latin typeface="Calibri"/>
              </a:rPr>
              <a:t>Every transition records: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400" b="0">
                <a:solidFill>
                  <a:srgbClr val="5A6B80"/>
                </a:solidFill>
                <a:latin typeface="Calibri"/>
              </a:rPr>
              <a:t>• Reviewer identity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400" b="0">
                <a:solidFill>
                  <a:srgbClr val="5A6B80"/>
                </a:solidFill>
                <a:latin typeface="Calibri"/>
              </a:rPr>
              <a:t>• Action taken &amp; timestamp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400" b="0">
                <a:solidFill>
                  <a:srgbClr val="5A6B80"/>
                </a:solidFill>
                <a:latin typeface="Calibri"/>
              </a:rPr>
              <a:t>• Mandatory comments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sz="1400" b="0">
                <a:solidFill>
                  <a:srgbClr val="222B38"/>
                </a:solidFill>
                <a:latin typeface="Calibri"/>
              </a:rPr>
              <a:t>Owner is notified instantly via in-app, email and SMS.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A6B80"/>
                </a:solidFill>
                <a:latin typeface="Calibri"/>
              </a:rPr>
              <a:t>Multi-level review pipeline mirrors the real hierarchy: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Roles &amp; Permissions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6400800" cy="841248"/>
          </a:xfrm>
          <a:prstGeom prst="round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36776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2B134"/>
                </a:solidFill>
                <a:latin typeface="Calibri"/>
              </a:rPr>
              <a:t>EMPLOYEE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Creates own plans, tracks achievement, contributes to others' plans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87168"/>
            <a:ext cx="7223760" cy="841248"/>
          </a:xfrm>
          <a:prstGeom prst="round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9464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2B134"/>
                </a:solidFill>
                <a:latin typeface="Calibri"/>
              </a:rPr>
              <a:t>DEPARTMENT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Reviews team plans, approves/rejects, monitors member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19856"/>
            <a:ext cx="8046720" cy="841248"/>
          </a:xfrm>
          <a:prstGeom prst="round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7498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2B134"/>
                </a:solidFill>
                <a:latin typeface="Calibri"/>
              </a:rPr>
              <a:t>EXECUTIVE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7498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Oversees multiple departments, final review before CEO 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52544"/>
            <a:ext cx="8869680" cy="841248"/>
          </a:xfrm>
          <a:prstGeom prst="round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8321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2B134"/>
                </a:solidFill>
                <a:latin typeface="Calibri"/>
              </a:rPr>
              <a:t>CEO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73168"/>
            <a:ext cx="8321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Final approval authority, corporate dashboards, user administration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85232"/>
            <a:ext cx="9692640" cy="841248"/>
          </a:xfrm>
          <a:prstGeom prst="round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675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2B134"/>
                </a:solidFill>
                <a:latin typeface="Calibri"/>
              </a:rPr>
              <a:t>BOARD 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0585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Highest oversight of corporate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A6B80"/>
                </a:solidFill>
                <a:latin typeface="Calibri"/>
              </a:rPr>
              <a:t>Middleware enforces authenticate → authorize(role) → validate on every route.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440680" cy="548640"/>
          </a:xfrm>
          <a:prstGeom prst="round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5440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5440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E"/>
                </a:solidFill>
                <a:latin typeface="Calibri"/>
              </a:rPr>
              <a:t>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5856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React 18 + Vite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24912"/>
            <a:ext cx="5440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E"/>
                </a:solidFill>
                <a:latin typeface="Calibri"/>
              </a:rPr>
              <a:t>Styling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889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Tailwind CSS 3.4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40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1927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E"/>
                </a:solidFill>
                <a:latin typeface="Calibri"/>
              </a:rPr>
              <a:t>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192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Recharts 2.12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85616"/>
            <a:ext cx="5440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962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E"/>
                </a:solidFill>
                <a:latin typeface="Calibri"/>
              </a:rPr>
              <a:t>Routing / HTTP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84962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React Router 6 · Axios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15968"/>
            <a:ext cx="5440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7997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E"/>
                </a:solidFill>
                <a:latin typeface="Calibri"/>
              </a:rPr>
              <a:t>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379976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Lucide icons · Toasts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63040"/>
            <a:ext cx="5440680" cy="548640"/>
          </a:xfrm>
          <a:prstGeom prst="round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536192"/>
            <a:ext cx="5440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194560"/>
            <a:ext cx="5440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25856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E"/>
                </a:solidFill>
                <a:latin typeface="Calibri"/>
              </a:rPr>
              <a:t>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25856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Node.js + Express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724912"/>
            <a:ext cx="5440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7889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E"/>
                </a:solidFill>
                <a:latin typeface="Calibri"/>
              </a:rPr>
              <a:t>ORM /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7889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Prisma 5.9 · PostgreSQL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255264"/>
            <a:ext cx="5440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31927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E"/>
                </a:solidFill>
                <a:latin typeface="Calibri"/>
              </a:rPr>
              <a:t>Auth /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3192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JWT · bcrypt · Helmet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785616"/>
            <a:ext cx="5440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84962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E"/>
                </a:solidFill>
                <a:latin typeface="Calibri"/>
              </a:rPr>
              <a:t>Realtime /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384962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Socket.IO · Multer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315968"/>
            <a:ext cx="5440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37997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23E"/>
                </a:solidFill>
                <a:latin typeface="Calibri"/>
              </a:rPr>
              <a:t>Docs &amp;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379976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0"/>
                </a:solidFill>
                <a:latin typeface="Calibri"/>
              </a:rPr>
              <a:t>PDFKit · ExcelJS · Jest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5A6B80"/>
                </a:solidFill>
                <a:latin typeface="Calibri"/>
              </a:rPr>
              <a:t>Deployment: Render (web service) · Managed PostgreSQL · environment-based configuration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THREE-TIER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645920"/>
            <a:ext cx="9784080" cy="1051560"/>
          </a:xfrm>
          <a:prstGeom prst="round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75564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PRESENTATION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2140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FF6"/>
                </a:solidFill>
                <a:latin typeface="Calibri"/>
              </a:rPr>
              <a:t>React SPA — pages, components, AuthContext (JWT), Axios client, Recharts dashboards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06440" y="2715768"/>
            <a:ext cx="548640" cy="384048"/>
          </a:xfrm>
          <a:prstGeom prst="downArrow">
            <a:avLst/>
          </a:prstGeom>
          <a:solidFill>
            <a:srgbClr val="9FB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3273552"/>
            <a:ext cx="9784080" cy="1051560"/>
          </a:xfrm>
          <a:prstGeom prst="round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3832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APPLICATION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490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FF6"/>
                </a:solidFill>
                <a:latin typeface="Calibri"/>
              </a:rPr>
              <a:t>Express REST API — 10 route modules · auth middleware · validators · services (email, SMS, PDF, Excel)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06440" y="4343400"/>
            <a:ext cx="548640" cy="384048"/>
          </a:xfrm>
          <a:prstGeom prst="downArrow">
            <a:avLst/>
          </a:prstGeom>
          <a:solidFill>
            <a:srgbClr val="9FB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4901184"/>
            <a:ext cx="9784080" cy="1051560"/>
          </a:xfrm>
          <a:prstGeom prst="roundRect">
            <a:avLst/>
          </a:prstGeom>
          <a:solidFill>
            <a:srgbClr val="6C4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01091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DATA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376672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FF6"/>
                </a:solidFill>
                <a:latin typeface="Calibri"/>
              </a:rPr>
              <a:t>PostgreSQL via Prisma ORM — users, departments, plans, approvals, notifications, audit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6309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B80"/>
                </a:solidFill>
                <a:latin typeface="Calibri"/>
              </a:rPr>
              <a:t>REST API + WebSocket (Socket.IO) connect the tiers; all traffic secured by JWT over HTTPS.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CORE ENTITIES (PRISMA + POSTGRESQL)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017520" cy="658368"/>
          </a:xfrm>
          <a:prstGeom prst="round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00784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554480"/>
            <a:ext cx="77266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673352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8"/>
                </a:solidFill>
                <a:latin typeface="Calibri"/>
              </a:rPr>
              <a:t>role, email, phone, password hash, manager, department, verification fields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792224"/>
            <a:ext cx="146304" cy="18288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322576"/>
            <a:ext cx="3017520" cy="658368"/>
          </a:xfrm>
          <a:prstGeom prst="round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Department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2322576"/>
            <a:ext cx="77266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44144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8"/>
                </a:solidFill>
                <a:latin typeface="Calibri"/>
              </a:rPr>
              <a:t>name, description; groups users and plans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560320"/>
            <a:ext cx="146304" cy="18288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090672"/>
            <a:ext cx="3017520" cy="658368"/>
          </a:xfrm>
          <a:prstGeom prst="round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36976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BSCPlan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3090672"/>
            <a:ext cx="77266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3209544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8"/>
                </a:solidFill>
                <a:latin typeface="Calibri"/>
              </a:rPr>
              <a:t>objective, KPI, formula, baseline/target/actual, weight, budget, status, owner, parent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3328416"/>
            <a:ext cx="146304" cy="18288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858768"/>
            <a:ext cx="3017520" cy="658368"/>
          </a:xfrm>
          <a:prstGeom prst="round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0507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ApprovalHistory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3858768"/>
            <a:ext cx="77266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3977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8"/>
                </a:solidFill>
                <a:latin typeface="Calibri"/>
              </a:rPr>
              <a:t>plan, reviewer, action, comments, timestamp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4096512"/>
            <a:ext cx="146304" cy="18288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626864"/>
            <a:ext cx="3017520" cy="658368"/>
          </a:xfrm>
          <a:prstGeom prst="round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73168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PlanVersion / Attachment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94760" y="4626864"/>
            <a:ext cx="77266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4745736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8"/>
                </a:solidFill>
                <a:latin typeface="Calibri"/>
              </a:rPr>
              <a:t>versioned snapshots and supporting documents (≤10 MB)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864608"/>
            <a:ext cx="146304" cy="18288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394960"/>
            <a:ext cx="3017520" cy="658368"/>
          </a:xfrm>
          <a:prstGeom prst="round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541264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Notification / AuditLog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5394960"/>
            <a:ext cx="77266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5513832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8"/>
                </a:solidFill>
                <a:latin typeface="Calibri"/>
              </a:rPr>
              <a:t>user alerts and immutable action trail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5632704"/>
            <a:ext cx="146304" cy="18288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PROTECTING ORGANIZATIONAL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Security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Authentication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JWT tokens with expiry; bcrypt password hashing (cost 12).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Authorization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Centralized authorize() middleware per route + per-role data scoping in queries.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Input validation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express-validator on every write endpoint; parameterized queries via Prisma stop SQL injection.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Hardened surface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Helmet security headers, CORS control, rate-limited login, morgan request logs.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Account integrity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Email/phone verification flows, controlled credential reset, account activation flags.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TURNING DATA INTO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Reporting &amp;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120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71907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4708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Individual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23160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5A6B80"/>
                </a:solidFill>
                <a:latin typeface="Calibri"/>
              </a:rPr>
              <a:t>Owned + contributed plans, weighted contribution scores, perspective breakdown.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2120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9672" y="171907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84708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Department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423160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5A6B80"/>
                </a:solidFill>
                <a:latin typeface="Calibri"/>
              </a:rPr>
              <a:t>Aggregated achievement, per-perspective analysis, member comparison.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91840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345643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584448"/>
            <a:ext cx="10524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Exports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60520"/>
            <a:ext cx="105247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5A6B80"/>
                </a:solidFill>
                <a:latin typeface="Calibri"/>
              </a:rPr>
              <a:t>ExcelJS produces styled .xlsx workbooks (headers, number formats); PDFKit renders landscape A4 reports with branded headers, summary blocks and detailed plan tables.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37760"/>
            <a:ext cx="10927080" cy="1051560"/>
          </a:xfrm>
          <a:prstGeom prst="round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2B134"/>
                </a:solidFill>
                <a:latin typeface="Calibri"/>
              </a:rPr>
              <a:t>Achievement % = clamp( Actual ÷ Target × weight , 150% )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350" b="0">
                <a:solidFill>
                  <a:srgbClr val="FFFFFF"/>
                </a:solidFill>
                <a:latin typeface="Calibri"/>
              </a:rPr>
              <a:t>Scores aggregate up: employee → department → corporate roll-ups computed server-side.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Testing &amp;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71907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4708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23160"/>
            <a:ext cx="480974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A6B80"/>
                </a:solidFill>
                <a:latin typeface="Calibri"/>
              </a:rPr>
              <a:t>• Jest + Supertest unit &amp; integration suites</a:t>
            </a:r>
            <a:br/>
            <a:r>
              <a:t>• API tests for auth, plans, approvals</a:t>
            </a:r>
            <a:br/>
            <a:r>
              <a:t>• Role-scoping verified per endpoint</a:t>
            </a:r>
            <a:br/>
            <a:r>
              <a:t>• Frontend build validated via Vite production bundle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9672" y="171907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84708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Deployment (CI/CD)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423160"/>
            <a:ext cx="480974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A6B80"/>
                </a:solidFill>
                <a:latin typeface="Calibri"/>
              </a:rPr>
              <a:t>• GitHub repository with Actions workflow</a:t>
            </a:r>
            <a:br/>
            <a:r>
              <a:t>• Render free-tier web service hosting</a:t>
            </a:r>
            <a:br/>
            <a:r>
              <a:t>• Managed PostgreSQL database</a:t>
            </a:r>
            <a:br/>
            <a:r>
              <a:t>• Environment variables for secrets &amp; config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109270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432511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453128"/>
            <a:ext cx="10524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23E"/>
                </a:solidFill>
                <a:latin typeface="Calibri"/>
              </a:rPr>
              <a:t>Operational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029200"/>
            <a:ext cx="1052474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A6B80"/>
                </a:solidFill>
                <a:latin typeface="Calibri"/>
              </a:rPr>
              <a:t>Seed provisioning creates the CEO account at startup · deployment-safe migrations (verification schema rollout) · health-checked service start · uploads persisted server-side.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Delivered a complete, working platform</a:t>
            </a:r>
          </a:p>
          <a:p>
            <a:pPr>
              <a:spcAft>
                <a:spcPts val="15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Full-stack system covering plan creation, hierarchical approval, reporting, notifications, and audit — deployed and usable.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Directly addresses the identified problems</a:t>
            </a:r>
          </a:p>
          <a:p>
            <a:pPr>
              <a:spcAft>
                <a:spcPts val="15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Single source of truth, enforced workflow, role-appropriate visibility, and automated score computation.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Aligned with the BSC methodology</a:t>
            </a:r>
          </a:p>
          <a:p>
            <a:pPr>
              <a:spcAft>
                <a:spcPts val="15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All four perspectives, weighting, and target-vs-actual measurement modeled faithfully.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0E8A8A"/>
                </a:solidFill>
                <a:latin typeface="Calibri"/>
              </a:rPr>
              <a:t>▪  </a:t>
            </a:r>
            <a:r>
              <a:rPr sz="1900" b="1">
                <a:solidFill>
                  <a:srgbClr val="222B38"/>
                </a:solidFill>
                <a:latin typeface="Calibri"/>
              </a:rPr>
              <a:t>Production-oriented engineering</a:t>
            </a:r>
          </a:p>
          <a:p>
            <a:pPr>
              <a:spcAft>
                <a:spcPts val="1500"/>
              </a:spcAft>
            </a:pPr>
            <a:r>
              <a:rPr sz="1500">
                <a:solidFill>
                  <a:srgbClr val="5A6B80"/>
                </a:solidFill>
                <a:latin typeface="Calibri"/>
              </a:rPr>
              <a:t>     Security hardening, testing, migrations, and cloud deployment included — not just a prototype.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0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445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134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212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81051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3852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223E"/>
                </a:solidFill>
                <a:latin typeface="Calibri"/>
              </a:rPr>
              <a:t>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4809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5A6B80"/>
                </a:solidFill>
                <a:latin typeface="Calibri"/>
              </a:rPr>
              <a:t>React Native client with push notifications.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45920"/>
            <a:ext cx="5212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9672" y="181051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93852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223E"/>
                </a:solidFill>
                <a:latin typeface="Calibri"/>
              </a:rPr>
              <a:t>Advanced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14600"/>
            <a:ext cx="4809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5A6B80"/>
                </a:solidFill>
                <a:latin typeface="Calibri"/>
              </a:rPr>
              <a:t>Trend forecasting and strategy-map heat maps.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5212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322783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35584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223E"/>
                </a:solidFill>
                <a:latin typeface="Calibri"/>
              </a:rPr>
              <a:t>Integrations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931920"/>
            <a:ext cx="4809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5A6B80"/>
                </a:solidFill>
                <a:latin typeface="Calibri"/>
              </a:rPr>
              <a:t>HR/payroll systems and national ID verification.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63240"/>
            <a:ext cx="5212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19672" y="322783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35584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223E"/>
                </a:solidFill>
                <a:latin typeface="Calibri"/>
              </a:rPr>
              <a:t>Localization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931920"/>
            <a:ext cx="4809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5A6B80"/>
                </a:solidFill>
                <a:latin typeface="Calibri"/>
              </a:rPr>
              <a:t>Amharic language support for wider adoption.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0560"/>
            <a:ext cx="5212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" y="464515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77316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223E"/>
                </a:solidFill>
                <a:latin typeface="Calibri"/>
              </a:rPr>
              <a:t>SSO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349240"/>
            <a:ext cx="4809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5A6B80"/>
                </a:solidFill>
                <a:latin typeface="Calibri"/>
              </a:rPr>
              <a:t>Active Directory / Google Workspace single sign-on.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480560"/>
            <a:ext cx="5212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19672" y="4645152"/>
            <a:ext cx="384048" cy="406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4773168"/>
            <a:ext cx="4809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223E"/>
                </a:solidFill>
                <a:latin typeface="Calibri"/>
              </a:rPr>
              <a:t>Offline resilience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5349240"/>
            <a:ext cx="4809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5A6B80"/>
                </a:solidFill>
                <a:latin typeface="Calibri"/>
              </a:rPr>
              <a:t>Progressive web app caching for field offices.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B80"/>
                </a:solidFill>
                <a:latin typeface="Calibri"/>
              </a:rPr>
              <a:t>BSC Management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7620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2B134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2E4"/>
                </a:solidFill>
                <a:latin typeface="Calibri"/>
              </a:rPr>
              <a:t>[Student Name]  ·  [student.email@university.edu]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2E4"/>
                </a:solidFill>
                <a:latin typeface="Calibri"/>
              </a:rPr>
              <a:t>[University Name] — [Department]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